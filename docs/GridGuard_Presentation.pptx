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-914400"/>
            <a:ext cx="4572000" cy="4572000"/>
          </a:xfrm>
          <a:prstGeom prst="rect">
            <a:avLst/>
          </a:prstGeom>
          <a:solidFill>
            <a:srgbClr val="0F233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840480" cy="256032"/>
          </a:xfrm>
          <a:prstGeom prst="rect">
            <a:avLst/>
          </a:prstGeom>
          <a:solidFill>
            <a:srgbClr val="38BD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E.ON HACKATHON  ·  ENERGY ×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</a:rPr>
              <a:t>GridGuard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94A3B8"/>
                </a:solidFill>
              </a:rPr>
              <a:t>AI-Powered Grid Security
&amp; Contingency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2560320" cy="256032"/>
          </a:xfrm>
          <a:prstGeom prst="rect">
            <a:avLst/>
          </a:prstGeom>
          <a:solidFill>
            <a:srgbClr val="34D39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117"/>
                </a:solidFill>
              </a:rPr>
              <a:t>✦  N-1 Security Restored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Mengyu Zhang  ·  Chen Zhao  ·  Cici  ·  Yang Xu  ·  Weiting Liang</a:t>
            </a:r>
          </a:p>
        </p:txBody>
      </p:sp>
      <p:pic>
        <p:nvPicPr>
          <p:cNvPr id="9" name="Picture 8" descr="dashboard-i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937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717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6459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5029200"/>
          </a:xfrm>
          <a:prstGeom prst="rect">
            <a:avLst/>
          </a:prstGeom>
          <a:solidFill>
            <a:srgbClr val="131A2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417320"/>
            <a:ext cx="3246120" cy="256032"/>
          </a:xfrm>
          <a:prstGeom prst="rect">
            <a:avLst/>
          </a:prstGeom>
          <a:solidFill>
            <a:srgbClr val="F8717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117"/>
                </a:solidFill>
              </a:rPr>
              <a:t>⚡  N-1 Contingency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874519"/>
            <a:ext cx="3246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A single line trip can cascade into
wider outages if not corrected
within minutes.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1188720"/>
            <a:ext cx="3566160" cy="5029200"/>
          </a:xfrm>
          <a:prstGeom prst="rect">
            <a:avLst/>
          </a:prstGeom>
          <a:solidFill>
            <a:srgbClr val="131A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417320"/>
            <a:ext cx="3246120" cy="256032"/>
          </a:xfrm>
          <a:prstGeom prst="rect">
            <a:avLst/>
          </a:prstGeom>
          <a:solidFill>
            <a:srgbClr val="FBBF2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117"/>
                </a:solidFill>
              </a:rPr>
              <a:t>🕒  Operator Overload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74519"/>
            <a:ext cx="3246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Modern grids with high DER penetration
produce thousands of contingency
combinations — too many to screen manually.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4736" y="1188720"/>
            <a:ext cx="3566160" cy="5029200"/>
          </a:xfrm>
          <a:prstGeom prst="rect">
            <a:avLst/>
          </a:prstGeom>
          <a:solidFill>
            <a:srgbClr val="131A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39328" y="1417320"/>
            <a:ext cx="3246120" cy="256032"/>
          </a:xfrm>
          <a:prstGeom prst="rect">
            <a:avLst/>
          </a:prstGeom>
          <a:solidFill>
            <a:srgbClr val="38BD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117"/>
                </a:solidFill>
              </a:rPr>
              <a:t>📊  No Physics-Aware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1874519"/>
            <a:ext cx="3246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Existing tools are either pure
optimisation (no explainability) or
pure heuristics (no physics).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6459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4A3B8"/>
                </a:solidFill>
              </a:rPr>
              <a:t>GridGuard is a real-time control-room decision-support dashboard that combines physics-based N-1 screening with an LLM reasoning loop to restore grid security at the lowest corrective cost.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577840" cy="1920240"/>
          </a:xfrm>
          <a:prstGeom prst="rect">
            <a:avLst/>
          </a:prstGeom>
          <a:solidFill>
            <a:srgbClr val="131A24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2313432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2951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3134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Two-Stage N-1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743200"/>
            <a:ext cx="5257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DC power-flow pre-screen all 123 lines → AC solve risky shortlist. Risk score = overload severity × bus count × islanding penalty.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7648" y="2148840"/>
            <a:ext cx="5577840" cy="1920240"/>
          </a:xfrm>
          <a:prstGeom prst="rect">
            <a:avLst/>
          </a:prstGeom>
          <a:solidFill>
            <a:srgbClr val="131A24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2313432"/>
            <a:ext cx="384048" cy="384048"/>
          </a:xfrm>
          <a:prstGeom prst="rect">
            <a:avLst/>
          </a:prstGeom>
          <a:solidFill>
            <a:srgbClr val="A78B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2951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6016" y="23134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Corrective Action 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5257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Build feasible DER options (BESS / RES curtail / load shed) with exact sensitivity (Δloading pp/MW) and economic cost (€/MWh).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97680"/>
            <a:ext cx="5577840" cy="1920240"/>
          </a:xfrm>
          <a:prstGeom prst="rect">
            <a:avLst/>
          </a:prstGeom>
          <a:solidFill>
            <a:srgbClr val="131A24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4462272"/>
            <a:ext cx="384048" cy="384048"/>
          </a:xfrm>
          <a:prstGeom prst="rect">
            <a:avLst/>
          </a:prstGeom>
          <a:solidFill>
            <a:srgbClr val="34D39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4439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462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DeepSeek LLM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892040"/>
            <a:ext cx="5257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Context-aware reasoning loop: batteries first → curtail RES → shed load. Iterates until N-1 secure. Benchmarked against LP (SCOPF-lite) optimum.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27648" y="4297680"/>
            <a:ext cx="5577840" cy="1920240"/>
          </a:xfrm>
          <a:prstGeom prst="rect">
            <a:avLst/>
          </a:prstGeom>
          <a:solidFill>
            <a:srgbClr val="131A2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4462272"/>
            <a:ext cx="384048" cy="384048"/>
          </a:xfrm>
          <a:prstGeom prst="rect">
            <a:avLst/>
          </a:prstGeom>
          <a:solidFill>
            <a:srgbClr val="FBBF2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439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4462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Operator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892040"/>
            <a:ext cx="5257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Full explainability — every dispatch decision shown with cost &amp; sensitivity. AI recommends; operator accepts or overrides.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N-1 Violation Detected — Risk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Line L13 trip · 12 simultaneous overloads · Risk Score 163.7 (Catastrophic)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74552" cy="16459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1173175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Corrective Action Space &amp; Operator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AI recommends BESS @ Bus 76 discharge — best sensitivity-to-cost ratio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74552" cy="16459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-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1173175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BBF2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Three Demo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6459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5303520"/>
          </a:xfrm>
          <a:prstGeom prst="rect">
            <a:avLst/>
          </a:prstGeom>
          <a:solidFill>
            <a:srgbClr val="131A2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371600"/>
            <a:ext cx="3246120" cy="256032"/>
          </a:xfrm>
          <a:prstGeom prst="rect">
            <a:avLst/>
          </a:prstGeom>
          <a:solidFill>
            <a:srgbClr val="F8717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117"/>
                </a:solidFill>
              </a:rPr>
              <a:t>Heatwave Peak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830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N-1: Line 13 trip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7627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130 % load  ·  16:00  ·  34 °C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578608"/>
            <a:ext cx="3246120" cy="16459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65176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Screening result: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94436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7171"/>
                </a:solidFill>
              </a:rPr>
              <a:t>12 overloads  ·  Risk Score 163.7  →  Catastrophic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52044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AI corrective action: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813048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BESS @ Bus 51 discharge 0.39 MW  +  load curtail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188720"/>
            <a:ext cx="3566160" cy="5303520"/>
          </a:xfrm>
          <a:prstGeom prst="rect">
            <a:avLst/>
          </a:prstGeom>
          <a:solidFill>
            <a:srgbClr val="131A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1371600"/>
            <a:ext cx="3246120" cy="256032"/>
          </a:xfrm>
          <a:prstGeom prst="rect">
            <a:avLst/>
          </a:prstGeom>
          <a:solidFill>
            <a:srgbClr val="38BD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117"/>
                </a:solidFill>
              </a:rPr>
              <a:t>Solar Midday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7830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N-1: Line 19 trip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7627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100 % load  ·  12:00  ·  clear sky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2578608"/>
            <a:ext cx="3246120" cy="16459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65176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Screening result: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94436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</a:rPr>
              <a:t>8 overloads  ·  Risk Score 102.5  →  Dangerous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52044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AI corrective action: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813048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Curtail wind farm @ Bus 111  +  BESS @ Bus 76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74736" y="1188720"/>
            <a:ext cx="3566160" cy="5303520"/>
          </a:xfrm>
          <a:prstGeom prst="rect">
            <a:avLst/>
          </a:prstGeom>
          <a:solidFill>
            <a:srgbClr val="131A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39328" y="1371600"/>
            <a:ext cx="3246120" cy="256032"/>
          </a:xfrm>
          <a:prstGeom prst="rect">
            <a:avLst/>
          </a:prstGeom>
          <a:solidFill>
            <a:srgbClr val="FBBF2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117"/>
                </a:solidFill>
              </a:rPr>
              <a:t>Storm Evening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17830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N-1: Line 55 trip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217627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120 % load  ·  18:00  ·  storm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39328" y="2578608"/>
            <a:ext cx="3246120" cy="16459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8" y="265176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Screening result: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294436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</a:rPr>
              <a:t>5 overloads  ·  Risk Score 88.4  →  Elevated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352044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AI corrective action: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3813048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BESS discharge  +  load curtail Bus 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78B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6459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560320" cy="256032"/>
          </a:xfrm>
          <a:prstGeom prst="rect">
            <a:avLst/>
          </a:prstGeom>
          <a:solidFill>
            <a:srgbClr val="38BD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117"/>
                </a:solidFill>
              </a:rPr>
              <a:t>React 19 + TypeScript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1612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Type-safe component tree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66544"/>
            <a:ext cx="2560320" cy="256032"/>
          </a:xfrm>
          <a:prstGeom prst="rect">
            <a:avLst/>
          </a:prstGeom>
          <a:solidFill>
            <a:srgbClr val="38BD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117"/>
                </a:solidFill>
              </a:rPr>
              <a:t>TanStack Router /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0391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File-based routing, SSR-ready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44368"/>
            <a:ext cx="2560320" cy="256032"/>
          </a:xfrm>
          <a:prstGeom prst="rect">
            <a:avLst/>
          </a:prstGeom>
          <a:solidFill>
            <a:srgbClr val="38BD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117"/>
                </a:solidFill>
              </a:rPr>
              <a:t>Vite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91693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Sub-second HMR, optimised 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22192"/>
            <a:ext cx="2560320" cy="256032"/>
          </a:xfrm>
          <a:prstGeom prst="rect">
            <a:avLst/>
          </a:prstGeom>
          <a:solidFill>
            <a:srgbClr val="A78B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117"/>
                </a:solidFill>
              </a:rPr>
              <a:t>Tailwind CSS v4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794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Design tokens, dark-mode native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00016"/>
            <a:ext cx="2560320" cy="256032"/>
          </a:xfrm>
          <a:prstGeom prst="rect">
            <a:avLst/>
          </a:prstGeom>
          <a:solidFill>
            <a:srgbClr val="A78B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117"/>
                </a:solidFill>
              </a:rPr>
              <a:t>Radix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467258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Accessible headless primitives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577840"/>
            <a:ext cx="2560320" cy="256032"/>
          </a:xfrm>
          <a:prstGeom prst="rect">
            <a:avLst/>
          </a:prstGeom>
          <a:solidFill>
            <a:srgbClr val="34D39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117"/>
                </a:solidFill>
              </a:rPr>
              <a:t>Recharts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55504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Bar/line charts for cost 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2743200" cy="256032"/>
          </a:xfrm>
          <a:prstGeom prst="rect">
            <a:avLst/>
          </a:prstGeom>
          <a:solidFill>
            <a:srgbClr val="FBBF2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117"/>
                </a:solidFill>
              </a:rPr>
              <a:t>pandapower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116128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IEEE 123-node N-1 physics engine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066544"/>
            <a:ext cx="2743200" cy="256032"/>
          </a:xfrm>
          <a:prstGeom prst="rect">
            <a:avLst/>
          </a:prstGeom>
          <a:solidFill>
            <a:srgbClr val="FBBF2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117"/>
                </a:solidFill>
              </a:rPr>
              <a:t>Two-stage screening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03911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DC pre-screen → AC solve shortlist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944368"/>
            <a:ext cx="2743200" cy="256032"/>
          </a:xfrm>
          <a:prstGeom prst="rect">
            <a:avLst/>
          </a:prstGeom>
          <a:solidFill>
            <a:srgbClr val="F8717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117"/>
                </a:solidFill>
              </a:rPr>
              <a:t>DeepSeek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91693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Context-aware corrective loop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822192"/>
            <a:ext cx="2743200" cy="256032"/>
          </a:xfrm>
          <a:prstGeom prst="rect">
            <a:avLst/>
          </a:prstGeom>
          <a:solidFill>
            <a:srgbClr val="34D39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117"/>
                </a:solidFill>
              </a:rPr>
              <a:t>LP Baseline (SCOPF-lite)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37947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Mathematical cost optimum reference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700016"/>
            <a:ext cx="2743200" cy="256032"/>
          </a:xfrm>
          <a:prstGeom prst="rect">
            <a:avLst/>
          </a:prstGeom>
          <a:solidFill>
            <a:srgbClr val="94A3B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117"/>
                </a:solidFill>
              </a:rPr>
              <a:t>Static TypeScript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467258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Pre-simulated scenarios, zero backend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70448" y="1097280"/>
            <a:ext cx="16459" cy="530352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Key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6459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148840" cy="3474720"/>
          </a:xfrm>
          <a:prstGeom prst="rect">
            <a:avLst/>
          </a:prstGeom>
          <a:solidFill>
            <a:srgbClr val="131A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34D399"/>
                </a:solidFill>
              </a:rPr>
              <a:t>119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Contingencies
Screened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88036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All 123-node lines evaluated in &lt; 1 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188720"/>
            <a:ext cx="2148840" cy="3474720"/>
          </a:xfrm>
          <a:prstGeom prst="rect">
            <a:avLst/>
          </a:prstGeom>
          <a:solidFill>
            <a:srgbClr val="131A2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41732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87171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24028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Catastrophic
Contingencies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8036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Immediately escalated to operator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79" y="1188720"/>
            <a:ext cx="2148840" cy="3474720"/>
          </a:xfrm>
          <a:prstGeom prst="rect">
            <a:avLst/>
          </a:prstGeom>
          <a:solidFill>
            <a:srgbClr val="131A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39" y="141732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38BDF8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39" y="224028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Corrective
Iterations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19" y="288036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LLM restores security in ≤ 2 steps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199" y="1188720"/>
            <a:ext cx="2148840" cy="3474720"/>
          </a:xfrm>
          <a:prstGeom prst="rect">
            <a:avLst/>
          </a:prstGeom>
          <a:solidFill>
            <a:srgbClr val="131A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59" y="141732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BBF24"/>
                </a:solidFill>
              </a:rPr>
              <a:t>96.2%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224028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Final Max
Line Loading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39" y="288036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Down from 136% post-fault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6919" y="1188720"/>
            <a:ext cx="2148840" cy="3474720"/>
          </a:xfrm>
          <a:prstGeom prst="rect">
            <a:avLst/>
          </a:prstGeom>
          <a:solidFill>
            <a:srgbClr val="131A24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79" y="141732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A78BFA"/>
                </a:solidFill>
              </a:rPr>
              <a:t>€1 211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79" y="224028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Corrective
Cost /h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59" y="288036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vs €980 LP optimum — 24%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Distribution-feeder dispatch priority:  BESS Discharge  →  Curtail Renewables  →  Shed 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57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(cheapest to most expensive per MW of overload relief)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78B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The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6459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63040"/>
            <a:ext cx="2011680" cy="2377440"/>
          </a:xfrm>
          <a:prstGeom prst="rect">
            <a:avLst/>
          </a:prstGeom>
          <a:solidFill>
            <a:srgbClr val="131A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9848" y="1691640"/>
            <a:ext cx="694944" cy="694944"/>
          </a:xfrm>
          <a:prstGeom prst="rect">
            <a:avLst/>
          </a:prstGeom>
          <a:solidFill>
            <a:srgbClr val="38BD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691640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117"/>
                </a:solidFill>
              </a:rPr>
              <a:t>MZ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871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Mengyu Zhang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463040"/>
            <a:ext cx="2011680" cy="2377440"/>
          </a:xfrm>
          <a:prstGeom prst="rect">
            <a:avLst/>
          </a:prstGeom>
          <a:solidFill>
            <a:srgbClr val="131A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5848" y="1691640"/>
            <a:ext cx="694944" cy="694944"/>
          </a:xfrm>
          <a:prstGeom prst="rect">
            <a:avLst/>
          </a:prstGeom>
          <a:solidFill>
            <a:srgbClr val="34D39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1691640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117"/>
                </a:solidFill>
              </a:rPr>
              <a:t>CZ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4871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Chen Zhao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80" y="1463040"/>
            <a:ext cx="2011680" cy="2377440"/>
          </a:xfrm>
          <a:prstGeom prst="rect">
            <a:avLst/>
          </a:prstGeom>
          <a:solidFill>
            <a:srgbClr val="131A24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41848" y="1691640"/>
            <a:ext cx="694944" cy="694944"/>
          </a:xfrm>
          <a:prstGeom prst="rect">
            <a:avLst/>
          </a:prstGeom>
          <a:solidFill>
            <a:srgbClr val="A78B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41848" y="1691640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117"/>
                </a:solidFill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4871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Cici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1463040"/>
            <a:ext cx="2011680" cy="2377440"/>
          </a:xfrm>
          <a:prstGeom prst="rect">
            <a:avLst/>
          </a:prstGeom>
          <a:solidFill>
            <a:srgbClr val="131A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27848" y="1691640"/>
            <a:ext cx="694944" cy="694944"/>
          </a:xfrm>
          <a:prstGeom prst="rect">
            <a:avLst/>
          </a:prstGeom>
          <a:solidFill>
            <a:srgbClr val="FBBF2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1691640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117"/>
                </a:solidFill>
              </a:rPr>
              <a:t>YX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4871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Yang Xu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55480" y="1463040"/>
            <a:ext cx="2011680" cy="2377440"/>
          </a:xfrm>
          <a:prstGeom prst="rect">
            <a:avLst/>
          </a:prstGeom>
          <a:solidFill>
            <a:srgbClr val="131A2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213848" y="1691640"/>
            <a:ext cx="694944" cy="694944"/>
          </a:xfrm>
          <a:prstGeom prst="rect">
            <a:avLst/>
          </a:prstGeom>
          <a:solidFill>
            <a:srgbClr val="F8717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13848" y="1691640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117"/>
                </a:solidFill>
              </a:rPr>
              <a:t>WL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24871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Weiting Liang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Built for the E.ON Hackathon 2025  ·  Energy × AI Grid Operation Agents Track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8BD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38BD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GridGuard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63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4A3B8"/>
                </a:solidFill>
              </a:rPr>
              <a:t>Physics-informed · Explainable · Operator-approved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931920"/>
            <a:ext cx="3959352" cy="256032"/>
          </a:xfrm>
          <a:prstGeom prst="rect">
            <a:avLst/>
          </a:prstGeom>
          <a:solidFill>
            <a:srgbClr val="34D39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117"/>
                </a:solidFill>
              </a:rPr>
              <a:t>✦  N-1 Security Restored  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github.com/YangXuDE/GridGuard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